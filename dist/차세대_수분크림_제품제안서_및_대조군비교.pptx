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" name="Image 0" descr="C:\Users\GOOD2020\Desktop\skills\dovemayo-site\public\cosmetic_product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914400"/>
            <a:ext cx="4754880" cy="5029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188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CELLAPURE LAB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914400" y="15087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K-BEAUTY PRODUCT PLANNING REPORT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914400" y="201168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수분크림 상품기획서
</a:t>
            </a:r>
            <a:pPr indent="0" marL="0">
              <a:buNone/>
            </a:pPr>
            <a:r>
              <a:rPr lang="en-US" sz="1800" b="1" dirty="0">
                <a:solidFill>
                  <a:srgbClr val="0F39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아쿠아 하이드라 배리어 크림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914400" y="34747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트렌드 분석 기반 120시간 속건조 잠금 솔루션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산뜻한 젤-크림 텍스처 &amp; 전성분 EWG All Green 비자극 포뮬러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914400" y="4389120"/>
            <a:ext cx="50292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5720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2026. 03
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(주)셀라퓨어 바이오랩스 상품기획팀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14400" y="5486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상기 작업물은 이해를 돕기위한 가상의 데이터입니다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10725912" cy="182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수분크림 시장 현황 및 트렌드 분석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CELLAPURE LAB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상기 작업물은 이해를 돕기위한 가상의 데이터입니다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수분크림 시장 1조 4,500억 원,
</a:t>
            </a:r>
            <a:pPr indent="0" marL="0">
              <a:buNone/>
            </a:pPr>
            <a:r>
              <a:rPr lang="en-US" sz="1500" b="1" dirty="0">
                <a:solidFill>
                  <a:srgbClr val="0F39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'단순 보습'에서 '장벽 &amp; 속건조 케어'로 구조적 재편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스킨케어 카테고리 내 부동의 1위인 수분크림 시장은 실내 냉·난방 보편화 및 외부 유해환경 증가로 인해, 표면만 번들거리는 유분 크림에서 벗어나 피부 장벽을 복구하는 고기능성 더마 보습제로 수요가 급속히 이동하고 있습니다.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169164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23744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시장 규모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22960" y="2706624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1.45조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12724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연평균 6.8% 성장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2514600" y="2468880"/>
            <a:ext cx="169164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2523744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장벽 크림 선호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606040" y="2706624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72.4%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06040" y="312724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속건조 소구 1위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4297680" y="2468880"/>
            <a:ext cx="169164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2523744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젤-크림 수요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389120" y="2706624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+45.2%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89120" y="312724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끈적임 0% 흡수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731520" y="3611880"/>
            <a:ext cx="52120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730752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소비자 불만 및 미충족 니즈 (Unmet Needs)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402336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불만 1위: "바를 땐 촉촉하지만 2~3시간 후 다시 속당김이 심해진다" (64.8%)</a:t>
            </a:r>
            <a:endParaRPr lang="en-US" sz="8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제형 불만: "고보습 크림은 번들거리고 메이크업 전 밀림 현상 발생" (58.2%)</a:t>
            </a:r>
            <a:endParaRPr lang="en-US" sz="8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성분 불신: "민감 피부에 알코올·향료 등 화학 유화제가 트러블 유발" (52.1%)</a:t>
            </a:r>
            <a:endParaRPr lang="en-US" sz="8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요구 사항: 가벼운 젤 텍스처로 발리되, 5일간 마르지 않는 장벽 보습 요구</a:t>
            </a:r>
            <a:endParaRPr lang="en-US" sz="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051560"/>
          <a:ext cx="5212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9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기존 수분크림 (Legacy)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9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2026 차세대 트렌드 (Next-Gen)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9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핵심 소구</a:t>
                      </a:r>
                      <a:endParaRPr lang="en-US" sz="7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단순 수분 공급 (히알루론산)</a:t>
                      </a:r>
                      <a:endParaRPr lang="en-US" sz="7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F3963"/>
                          </a:solidFill>
                        </a:rPr>
                        <a:t>피부 장벽 재건 &amp; 속건조 잠금</a:t>
                      </a:r>
                      <a:endParaRPr lang="en-US" sz="7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제형 텍스처</a:t>
                      </a:r>
                      <a:endParaRPr lang="en-US" sz="7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무거운 오일 버터 or 알코올 젤</a:t>
                      </a:r>
                      <a:endParaRPr lang="en-US" sz="7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F3963"/>
                          </a:solidFill>
                        </a:rPr>
                        <a:t>산뜻한 워터 트랜스폼 젤-크림</a:t>
                      </a:r>
                      <a:endParaRPr lang="en-US" sz="7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보습 지속력</a:t>
                      </a:r>
                      <a:endParaRPr lang="en-US" sz="7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일시적 6~12시간 표면 보습</a:t>
                      </a:r>
                      <a:endParaRPr lang="en-US" sz="7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F3963"/>
                          </a:solidFill>
                        </a:rPr>
                        <a:t>120시간 지속 장벽 락킹</a:t>
                      </a:r>
                      <a:endParaRPr lang="en-US" sz="7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성분 기준</a:t>
                      </a:r>
                      <a:endParaRPr lang="en-US" sz="7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사용감 위주 유화제/향료 함유</a:t>
                      </a:r>
                      <a:endParaRPr lang="en-US" sz="7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F3963"/>
                          </a:solidFill>
                        </a:rPr>
                        <a:t>전성분 EWG All Green &amp; 비자극</a:t>
                      </a:r>
                      <a:endParaRPr lang="en-US" sz="7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6217920" y="3611880"/>
            <a:ext cx="5212080" cy="2103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17920" y="3611880"/>
            <a:ext cx="91440" cy="2103120"/>
          </a:xfrm>
          <a:prstGeom prst="rect">
            <a:avLst/>
          </a:prstGeom>
          <a:solidFill>
            <a:srgbClr val="0F3963"/>
          </a:solidFill>
          <a:ln w="12700">
            <a:solidFill>
              <a:srgbClr val="0F396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7490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39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시사점 (Strategic Takeaway)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492240" y="4069080"/>
            <a:ext cx="4754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83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"끈적임 없는 젤-크림의 산뜻함"과 "120시간 극한 장벽 잠금력"을 동시에 만족시키는 고기능성 클린 포뮬러가 2026 수분크림 시장의 독점적 블루오션입니다.</a:t>
            </a:r>
            <a:endParaRPr lang="en-US" sz="830" dirty="0"/>
          </a:p>
          <a:p>
            <a:pPr indent="0" marL="0">
              <a:lnSpc>
                <a:spcPts val="1600"/>
              </a:lnSpc>
              <a:buNone/>
            </a:pPr>
            <a:endParaRPr lang="en-US" sz="83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3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셀라퓨어는 기존 시장의 2대 난제인 [속건조]와 [메이크업 밀림]을 동시에 해결하는 독자 포뮬러로 시장 진입을 추진합니다.</a:t>
            </a:r>
            <a:endParaRPr lang="en-US" sz="8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10725912" cy="182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기획 개요 및 포뮬레이션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CELLAPURE LAB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상기 작업물은 이해를 돕기위한 가상의 데이터입니다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4389120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7" name="Image 0" descr="C:\Users\GOOD2020\Desktop\skills\dovemayo-site\public\cosmetic_product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1188720"/>
            <a:ext cx="3657600" cy="178308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154680"/>
          <a:ext cx="4023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제품명</a:t>
                      </a:r>
                      <a:endParaRPr lang="en-US" sz="7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F3963"/>
                          </a:solidFill>
                        </a:rPr>
                        <a:t>셀라퓨어 아쿠아 하이드라 배리어 크림</a:t>
                      </a:r>
                      <a:endParaRPr lang="en-US" sz="7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용량 / 가격</a:t>
                      </a:r>
                      <a:endParaRPr lang="en-US" sz="7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80ml / 32,000원 (가성비 대용량)</a:t>
                      </a:r>
                      <a:endParaRPr lang="en-US" sz="7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제형</a:t>
                      </a:r>
                      <a:endParaRPr lang="en-US" sz="7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워터 트랜스폼 젤-크림</a:t>
                      </a:r>
                      <a:endParaRPr lang="en-US" sz="7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권장 피부</a:t>
                      </a:r>
                      <a:endParaRPr lang="en-US" sz="7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수부지·속건조·민감성 모든 피부</a:t>
                      </a:r>
                      <a:endParaRPr lang="en-US" sz="7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안전성</a:t>
                      </a:r>
                      <a:endParaRPr lang="en-US" sz="7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66534"/>
                          </a:solidFill>
                        </a:rPr>
                        <a:t>전성분 EWG Green / 비자극 0.00</a:t>
                      </a:r>
                      <a:endParaRPr lang="en-US" sz="7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0" y="105156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바르는 순간 완성되는 120시간 장벽 잠금 솔루션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0" y="13716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리치한 크림의 무거운 유분감을 덜어내고, 수분 젤의 빠른 흡수력과 고보습 장벽 잠금 기능을 동시에 충족하는 독자 3단계 하이드라 락킹 포뮬러를 적용하였습니다.</a:t>
            </a:r>
            <a:endParaRPr lang="en-US" sz="85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874520"/>
          <a:ext cx="5943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97280"/>
                <a:gridCol w="31089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원료명 및 함량</a:t>
                      </a:r>
                      <a:endParaRPr lang="en-US" sz="7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9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작용 단계</a:t>
                      </a:r>
                      <a:endParaRPr lang="en-US" sz="7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9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피부 효능 및 작용 메커니즘</a:t>
                      </a:r>
                      <a:endParaRPr lang="en-US" sz="75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9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</a:rPr>
                        <a:t>10D 복합 히알루론산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</a:rPr>
                        <a:t>1단계 [속보습]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저분자부터 고분자까지 10단계 층별 침투, 속건조 즉각 해소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</a:rPr>
                        <a:t>사막 엑토인 30,000ppm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</a:rPr>
                        <a:t>2단계 [세포보호]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극한 환경 생존 분자, 강력한 수분 결합막 형성 및 세포 보호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</a:rPr>
                        <a:t>바이오 세라마이드 NP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</a:rPr>
                        <a:t>3단계 [장벽잠금]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피부 지질 구조 유사 배리어 재건, 경피 수분 손실(TEWL) 원천 방어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</a:rPr>
                        <a:t>D-판테놀 (50,000ppm)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</a:rPr>
                        <a:t>상시 진정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자극받은 피부 장벽의 신속한 복구 및 수분 유지력 강화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</a:rPr>
                        <a:t>시카(병풀) 4X 콤플렉스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</a:rPr>
                        <a:t>급속 쿨링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도포 즉시 피부 표면 온도 -4.2℃ 강하, 외부 자극 붉은기 완화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0" y="4251960"/>
            <a:ext cx="5943600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669280" y="4370832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39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포뮬러 안전성 및 기술 인증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5669280" y="4645152"/>
            <a:ext cx="5577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피부 자극 지수 0.00 판정 (인체 첩포 시험 완료, 완전 비자극)</a:t>
            </a:r>
            <a:endParaRPr lang="en-US" sz="8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20가지 유해 의심 성분 및 인공 향료·색소 0% 전면 배제 처방</a:t>
            </a:r>
            <a:endParaRPr lang="en-US" sz="8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건강한 피부 표면 산도와 동일한 약산성 pH 5.5 최적 밸런싱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10725912" cy="182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4대 핵심 특징 (Product Key Features)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CELLAPURE LAB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상기 작업물은 이해를 돕기위한 가상의 데이터입니다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521208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16128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1161288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120시간 연속 수분 잠금 테크놀로지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527048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83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1회 사용으로 도포 120시간(5일) 후에도 피부 수분 유지율 84.2%를 입증(인체적용시험 완료). 냉·난방 환경에서도 하루 종일 속당김 없는 보습을 지속합니다.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6217920" y="1051560"/>
            <a:ext cx="521208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16128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95160" y="1161288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산뜻한 젤-크림 트랜스폼 제형 (밀림 0%)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1527048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83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피부에 닿는 즉시 워터리하게 흡수되어 겉돌거나 번들거리지 않습니다. 메이크업 전 밀림 현상 0%로 아침 데일리 부스터로 최적화되었습니다.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731520" y="2834640"/>
            <a:ext cx="521208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94436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08760" y="2944368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전성분 EWG All Green &amp; 비자극 0.00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3310128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83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20가지 유해 우려 성분, 인공 향료, 인공 색소를 전면 배제. 피부 저자극 테스트 결과 자극 지수 0.00 판정을 받아 민감 피부도 안심하고 사용할 수 있습니다.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6217920" y="2834640"/>
            <a:ext cx="521208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94436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95160" y="2944368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즉각적인 피부 온도 -4.2℃ 쿨링 진정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3310128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83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도포 즉시 피부 표면 온도를 평균 4.2℃ 즉각 강하시켜 자외선, 마스크 마찰, 환절기 기온차로 달아오른 예민 피부의 열감과 붉은기를 급속 진정시킵니다.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731520" y="4800600"/>
            <a:ext cx="10698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0749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 보습 유지율 120H 84.2%  |  ✔ 경피수분손실량(TEWL) 88.7% 개선  |  ✔ 피부자극지수 0.00 비자극 인증  |  ✔ 도포 즉시 쿨링 -4.2℃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10725912" cy="182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타사 및 대조군 제품 정밀 비교 분석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CELLAPURE LAB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상기 작업물은 이해를 돕기위한 가상의 데이터입니다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10698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시중 올리브영 1위 C사, 백화점 스테디셀러 K사, 일반 수분젤 O사와의 6개 핵심 지표 정량·정성 비교 시험 결과입니다.</a:t>
            </a:r>
            <a:endParaRPr lang="en-US" sz="88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34440"/>
          <a:ext cx="1072591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926080"/>
                <a:gridCol w="2057400"/>
                <a:gridCol w="2057400"/>
                <a:gridCol w="213055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비교 항목</a:t>
                      </a:r>
                      <a:endParaRPr lang="en-US" sz="78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9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셀라퓨어 아쿠아 하이드라 크림</a:t>
                      </a:r>
                      <a:endParaRPr lang="en-US" sz="780" dirty="0"/>
                    </a:p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(본 제품)</a:t>
                      </a:r>
                      <a:endParaRPr lang="en-US" sz="78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9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C사 유명 수분크림</a:t>
                      </a:r>
                      <a:endParaRPr lang="en-US" sz="780" dirty="0"/>
                    </a:p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(올리브영 1위)</a:t>
                      </a:r>
                      <a:endParaRPr lang="en-US" sz="78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9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K사 프리미엄 크림</a:t>
                      </a:r>
                      <a:endParaRPr lang="en-US" sz="780" dirty="0"/>
                    </a:p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(백화점 베스트)</a:t>
                      </a:r>
                      <a:endParaRPr lang="en-US" sz="78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9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O사 일반 수분젤</a:t>
                      </a:r>
                      <a:endParaRPr lang="en-US" sz="780" dirty="0"/>
                    </a:p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(로드숍 대조군)</a:t>
                      </a:r>
                      <a:endParaRPr lang="en-US" sz="78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9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</a:rPr>
                        <a:t>보습 지속력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0F3963"/>
                          </a:solidFill>
                        </a:rPr>
                        <a:t>120시간 연속 지속 (인체적용 입증)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24시간 내외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48시간 지속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12시간 이하 (속당김 발생)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</a:rPr>
                        <a:t>사용감 / 잔여감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0F3963"/>
                          </a:solidFill>
                        </a:rPr>
                        <a:t>산뜻한 젤-크림, 끈적임·밀림 0%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유분감 잔여, 메이크업 밀림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리치한 밤(Balm)형, 다소 무거움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흡수 후 당김 및 알코올 건조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</a:rPr>
                        <a:t>성분 안전성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166534"/>
                          </a:solidFill>
                        </a:rPr>
                        <a:t>전성분 EWG All Green (0 유해의심)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주의 성분 2종 및 합성향료 포함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PEG 유화제 및 합성 방부제 함유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변성알코올 다량 함유 (건조 유발)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</a:rPr>
                        <a:t>피부 저자극 지수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0F3963"/>
                          </a:solidFill>
                        </a:rPr>
                        <a:t>0.00 (완전 비자극 공식 인증)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0.07 (일반 피부용)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0.09 (일반 피부용)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0.15 (민감 피부 주의)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</a:rPr>
                        <a:t>피부 장벽 개선율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0F3963"/>
                          </a:solidFill>
                        </a:rPr>
                        <a:t>88.7% 회복 (TEWL 손실 방어)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42.3% 회복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61.5% 회복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24.0% 회복 (미미)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</a:rPr>
                        <a:t>용량당 가격경쟁력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0F3963"/>
                          </a:solidFill>
                        </a:rPr>
                        <a:t>32,000원 (80ml 대용량 / 400원/ml)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36,000원 (50ml / 720원/ml)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65,000원 (50ml / 1,300원/ml)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24,000원 (60ml / 400원/ml)</a:t>
                      </a:r>
                      <a:endParaRPr lang="en-US" sz="72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31520" y="4069080"/>
            <a:ext cx="10725912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4206240"/>
            <a:ext cx="10149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39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대조군 비교 종합 평가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005840" y="4480560"/>
            <a:ext cx="10149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보습 지속력: 120시간 극한 지속력으로 올리브영 1위 C사(24시간) 및 백화점 K사(48시간) 대비 압도적 격차 입증</a:t>
            </a:r>
            <a:endParaRPr lang="en-US" sz="8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성분 안전성: 전성분 EWG Green 및 무자극(0.00) 판정으로 민감 피부 수부지 고객층의 정착률 견인</a:t>
            </a:r>
            <a:endParaRPr lang="en-US" sz="8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가격 경쟁력: 80ml 대용량 포맷으로 ml당 400원의 파격적 가성비를 제공하여 초기 진입 및 재구매 장벽 완전 해소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10725912" cy="182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포지셔닝 및 런칭 전략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CELLAPURE LAB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상기 작업물은 이해를 돕기위한 가상의 데이터입니다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2x2 경쟁 포지셔닝 맵 (텍스처 vs 기능성)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246888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17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[무거운 보습 + 단순 수분]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22960" y="167335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레거시 오일 보습 로션</a:t>
            </a:r>
            <a:endParaRPr lang="en-US" sz="7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(유분 과다, 모공 막힘)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291840" y="1325880"/>
            <a:ext cx="246888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417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[무거운 보습 + 장벽 케어]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383280" y="167335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K사 프리미엄 리치 크림</a:t>
            </a:r>
            <a:endParaRPr lang="en-US" sz="7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(고가, 흡수 느림)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31520" y="2514600"/>
            <a:ext cx="246888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606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[산뜻한 젤 + 단순 수분]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822960" y="286207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O사 수분젤, 알로에젤</a:t>
            </a:r>
            <a:endParaRPr lang="en-US" sz="7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(일시적, 속당김 심함)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91840" y="2514600"/>
            <a:ext cx="2468880" cy="1097280"/>
          </a:xfrm>
          <a:prstGeom prst="rect">
            <a:avLst/>
          </a:prstGeom>
          <a:solidFill>
            <a:srgbClr val="F0FDF4"/>
          </a:solidFill>
          <a:ln w="19050">
            <a:solidFill>
              <a:srgbClr val="1665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606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[산뜻한 젤 + 120H 장벽]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383280" y="286207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셀라퓨어 아쿠아 크림</a:t>
            </a:r>
            <a:endParaRPr lang="en-US" sz="7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(독점 포지셔닝 선점)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31520" y="3886200"/>
            <a:ext cx="5029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005072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39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타깃 고객군 (Target Customers)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4279392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타깃 1: 냉·난방 실내 환경에서 속건조·속당김을 호소하는 2030 직장인</a:t>
            </a:r>
            <a:endParaRPr lang="en-US" sz="780" dirty="0"/>
          </a:p>
          <a:p>
            <a:pPr indent="0" marL="0">
              <a:lnSpc>
                <a:spcPts val="16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타깃 2: 번들거림과 각질 들뜸이 공존하는 수부지(수분부족형 지성) 피부</a:t>
            </a:r>
            <a:endParaRPr lang="en-US" sz="780" dirty="0"/>
          </a:p>
          <a:p>
            <a:pPr indent="0" marL="0">
              <a:lnSpc>
                <a:spcPts val="16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타깃 3: 환절기 자외선과 마스크로 쉽게 붉어지는 민감성 장벽 손상 피부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6217920" y="105156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3대 유통 및 마케팅 런칭 전략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1325880"/>
            <a:ext cx="52120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1417320"/>
            <a:ext cx="1005840" cy="201168"/>
          </a:xfrm>
          <a:prstGeom prst="rect">
            <a:avLst/>
          </a:prstGeom>
          <a:solidFill>
            <a:srgbClr val="0F396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유통 채널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7498080" y="14173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D2C 자사몰 &amp; 올리브영 온·오프라인 동시 런칭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00800" y="1655064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런칭 기획 세트(80ml 본품 + 20ml 튜브 증정) 구성으로 초도 진입 장벽 완화 및 1위 뷰티 채널 집중 공략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217920" y="2286000"/>
            <a:ext cx="52120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377440"/>
            <a:ext cx="1005840" cy="201168"/>
          </a:xfrm>
          <a:prstGeom prst="rect">
            <a:avLst/>
          </a:prstGeom>
          <a:solidFill>
            <a:srgbClr val="0F396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사전 검증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7498080" y="23774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화해 / 글로우픽 사전 품평단 500인 검증 프로모션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00800" y="2615184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'속건조 개선 만족도 98%' '밀림 없음 99%' 후기 자산을 확보하여 런칭 즉시 랭킹 상위권 안착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217920" y="3246120"/>
            <a:ext cx="52120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3337560"/>
            <a:ext cx="1005840" cy="201168"/>
          </a:xfrm>
          <a:prstGeom prst="rect">
            <a:avLst/>
          </a:prstGeom>
          <a:solidFill>
            <a:srgbClr val="0F396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콘텐츠 확산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7498080" y="333756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성분 분석가 협업 &amp; 120H 수분잠금 임상 데이터 바이럴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400800" y="3575304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화장품 성분 유튜버와 함께 EWG Green 성분표 및 TEWL 장벽 개선 전후 비교 영상으로 기술 신뢰도 확보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217920" y="4389120"/>
            <a:ext cx="5212080" cy="1280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45262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39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정량 목표 (Core Quantitative Goal)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0" y="48006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8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출시 3개월 내 올리브영 수분크림 카테고리 TOP 3 진입</a:t>
            </a:r>
            <a:endParaRPr lang="en-US" sz="82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사전 품평단 500인 평점 4.8 이상 및 속건조 만족도 98% 달성</a:t>
            </a:r>
            <a:endParaRPr lang="en-US" sz="82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자사몰 D2C 채널 중심 재구매율 42% 조기 확보로 안정적 캐시카우화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(주)셀라퓨어 바이오랩스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차세대 수분크림 상품기획서 및 시장·비교 분석 보고서</dc:title>
  <dc:subject>PptxGenJS Presentation</dc:subject>
  <dc:creator>CELLAPURE BIOLABS</dc:creator>
  <cp:lastModifiedBy>CELLAPURE BIOLABS</cp:lastModifiedBy>
  <cp:revision>1</cp:revision>
  <dcterms:created xsi:type="dcterms:W3CDTF">2026-09-28T02:23:27Z</dcterms:created>
  <dcterms:modified xsi:type="dcterms:W3CDTF">2026-09-28T02:23:27Z</dcterms:modified>
</cp:coreProperties>
</file>